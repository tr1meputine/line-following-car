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71" r:id="rId4"/>
    <p:sldId id="274" r:id="rId5"/>
    <p:sldId id="270" r:id="rId6"/>
    <p:sldId id="269" r:id="rId7"/>
    <p:sldId id="284" r:id="rId8"/>
    <p:sldId id="283" r:id="rId9"/>
    <p:sldId id="268" r:id="rId10"/>
    <p:sldId id="276" r:id="rId11"/>
    <p:sldId id="277" r:id="rId12"/>
    <p:sldId id="278" r:id="rId13"/>
    <p:sldId id="266" r:id="rId14"/>
    <p:sldId id="275" r:id="rId15"/>
    <p:sldId id="262" r:id="rId16"/>
    <p:sldId id="287" r:id="rId17"/>
    <p:sldId id="285" r:id="rId18"/>
    <p:sldId id="286" r:id="rId19"/>
    <p:sldId id="279" r:id="rId20"/>
    <p:sldId id="280" r:id="rId21"/>
    <p:sldId id="282" r:id="rId22"/>
    <p:sldId id="281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23197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9048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20669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6411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073312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23087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90095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85078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58063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07660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128804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75C3C-8E0B-4915-B113-5DF97024F34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477116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79F82-A2C7-4568-899B-49DE09FF8AD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91903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B2989-8FB4-4995-B86A-42ADA16E75D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780508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648B2F-84A4-4D43-A7B7-B3472785DA1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718805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90271-05C7-4BF7-9EAD-BF6BA8CDB9F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64483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A2637-96C4-4694-8239-C3757E5B2E1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50098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8097A-004A-4A9D-9431-5A9F85FD965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432620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63163-E167-419B-B0F2-9978D09159C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12592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A9FC2-A3E2-467A-8F5D-7990F6A8924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005527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620CF-D716-422C-8490-2F87FFA7626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643391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26CCE-EA99-4783-A9A2-4C5A06D2C3C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00103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19D3A-C01E-4396-98B8-94AAD518DF7D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4A7F5-C926-482D-989A-5B6A22F5E7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65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A3D582-FE45-4047-BFFF-DC4E005F9CEC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1" name="Freeform 7"/>
          <p:cNvSpPr>
            <a:spLocks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3" name="Rectangle 10"/>
          <p:cNvSpPr>
            <a:spLocks noChangeArrowheads="1"/>
          </p:cNvSpPr>
          <p:nvPr userDrawn="1"/>
        </p:nvSpPr>
        <p:spPr bwMode="auto">
          <a:xfrm>
            <a:off x="0" y="2884488"/>
            <a:ext cx="3095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034" name="Picture 6" descr="http://arduino.cc/en/pub/skins/arduinoWide_SSO/img/logo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4800"/>
            <a:ext cx="781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586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1383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>
                <a:latin typeface="+mn-ea"/>
                <a:ea typeface="+mn-ea"/>
              </a:rPr>
              <a:t>光电循迹小车设计与制作</a:t>
            </a:r>
            <a:r>
              <a:rPr lang="en-US" altLang="zh-CN" sz="5400" dirty="0">
                <a:latin typeface="+mn-ea"/>
                <a:ea typeface="+mn-ea"/>
              </a:rPr>
              <a:t/>
            </a:r>
            <a:br>
              <a:rPr lang="en-US" altLang="zh-CN" sz="5400" dirty="0">
                <a:latin typeface="+mn-ea"/>
                <a:ea typeface="+mn-ea"/>
              </a:rPr>
            </a:br>
            <a:r>
              <a:rPr lang="en-US" altLang="zh-CN" sz="5400" dirty="0">
                <a:latin typeface="+mn-ea"/>
                <a:ea typeface="+mn-ea"/>
              </a:rPr>
              <a:t/>
            </a:r>
            <a:br>
              <a:rPr lang="en-US" altLang="zh-CN" sz="5400" dirty="0">
                <a:latin typeface="+mn-ea"/>
                <a:ea typeface="+mn-ea"/>
              </a:rPr>
            </a:br>
            <a:r>
              <a:rPr lang="zh-CN" altLang="en-US" sz="4400" dirty="0">
                <a:latin typeface="+mn-ea"/>
                <a:ea typeface="+mn-ea"/>
              </a:rPr>
              <a:t>（课程大作业</a:t>
            </a:r>
            <a:r>
              <a:rPr lang="en-US" altLang="zh-CN" sz="4400" dirty="0">
                <a:latin typeface="+mn-ea"/>
                <a:ea typeface="+mn-ea"/>
              </a:rPr>
              <a:t>50%</a:t>
            </a:r>
            <a:r>
              <a:rPr lang="zh-CN" altLang="en-US" sz="4400" dirty="0">
                <a:latin typeface="+mn-ea"/>
                <a:ea typeface="+mn-ea"/>
              </a:rPr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89396C3C-05C4-4BC9-B0CF-CA23C431FC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475" y="3751683"/>
            <a:ext cx="3575050" cy="254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3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61BBAC32-E677-41E2-92E2-D14CB521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851"/>
            <a:ext cx="78867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设计任务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="" xmlns:a16="http://schemas.microsoft.com/office/drawing/2014/main" id="{B047379E-7BE9-4826-AB59-DB277A36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32468"/>
            <a:ext cx="8201025" cy="259492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400" dirty="0">
                <a:latin typeface="+mn-ea"/>
              </a:rPr>
              <a:t>设计一辆光电循迹小车：以</a:t>
            </a:r>
            <a:r>
              <a:rPr lang="en-US" altLang="zh-CN" sz="2400" dirty="0">
                <a:latin typeface="+mn-ea"/>
              </a:rPr>
              <a:t>Arduino</a:t>
            </a:r>
            <a:r>
              <a:rPr lang="zh-CN" altLang="en-US" sz="2400" dirty="0">
                <a:latin typeface="+mn-ea"/>
              </a:rPr>
              <a:t>为控制器，采用光电原理检测路径</a:t>
            </a:r>
            <a:r>
              <a:rPr lang="zh-CN" altLang="en-US" sz="2400" dirty="0" smtClean="0">
                <a:latin typeface="+mn-ea"/>
              </a:rPr>
              <a:t>，按下</a:t>
            </a:r>
            <a:r>
              <a:rPr lang="zh-CN" altLang="en-US" sz="2400" b="1" dirty="0" smtClean="0">
                <a:latin typeface="+mn-ea"/>
              </a:rPr>
              <a:t>启动</a:t>
            </a:r>
            <a:r>
              <a:rPr lang="zh-CN" altLang="en-US" sz="2400" b="1" dirty="0">
                <a:latin typeface="+mn-ea"/>
              </a:rPr>
              <a:t>按键</a:t>
            </a:r>
            <a:r>
              <a:rPr lang="zh-CN" altLang="en-US" sz="2400" dirty="0">
                <a:latin typeface="+mn-ea"/>
              </a:rPr>
              <a:t>后小车从发车区出发</a:t>
            </a:r>
            <a:r>
              <a:rPr lang="zh-CN" altLang="en-US" sz="2400" dirty="0" smtClean="0">
                <a:latin typeface="+mn-ea"/>
              </a:rPr>
              <a:t>，经过</a:t>
            </a:r>
            <a:r>
              <a:rPr lang="zh-CN" altLang="en-US" sz="2400" dirty="0">
                <a:latin typeface="+mn-ea"/>
              </a:rPr>
              <a:t>起始</a:t>
            </a:r>
            <a:r>
              <a:rPr lang="zh-CN" altLang="en-US" sz="2400" dirty="0" smtClean="0">
                <a:latin typeface="+mn-ea"/>
              </a:rPr>
              <a:t>线沿着</a:t>
            </a:r>
            <a:r>
              <a:rPr lang="zh-CN" altLang="en-US" sz="2400" dirty="0">
                <a:latin typeface="+mn-ea"/>
              </a:rPr>
              <a:t>黑线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自主</a:t>
            </a:r>
            <a:r>
              <a:rPr lang="zh-CN" altLang="en-US" sz="2400" dirty="0" smtClean="0">
                <a:latin typeface="+mn-ea"/>
              </a:rPr>
              <a:t>行走</a:t>
            </a: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圈</a:t>
            </a:r>
            <a:r>
              <a:rPr lang="zh-CN" altLang="en-US" sz="2400" dirty="0" smtClean="0">
                <a:latin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</a:rPr>
              <a:t>分钟内完成</a:t>
            </a:r>
            <a:r>
              <a:rPr lang="zh-CN" altLang="en-US" sz="2400" dirty="0" smtClean="0">
                <a:latin typeface="微软雅黑" panose="020B0503020204020204" pitchFamily="34" charset="-122"/>
              </a:rPr>
              <a:t>）</a:t>
            </a:r>
            <a:r>
              <a:rPr lang="zh-CN" altLang="en-US" sz="2400" dirty="0" smtClean="0">
                <a:latin typeface="+mn-ea"/>
              </a:rPr>
              <a:t>，再次到达起始线后自动</a:t>
            </a:r>
            <a:r>
              <a:rPr lang="zh-CN" altLang="en-US" sz="2400" dirty="0">
                <a:latin typeface="+mn-ea"/>
              </a:rPr>
              <a:t>停下</a:t>
            </a:r>
            <a:r>
              <a:rPr lang="zh-CN" altLang="en-US" sz="2400" dirty="0" smtClean="0">
                <a:latin typeface="+mn-ea"/>
              </a:rPr>
              <a:t>，用</a:t>
            </a:r>
            <a:r>
              <a:rPr lang="en-US" altLang="zh-CN" sz="2400" dirty="0" smtClean="0">
                <a:latin typeface="+mn-ea"/>
              </a:rPr>
              <a:t>OLED</a:t>
            </a:r>
            <a:r>
              <a:rPr lang="zh-CN" altLang="en-US" sz="2400" dirty="0" smtClean="0">
                <a:latin typeface="+mn-ea"/>
              </a:rPr>
              <a:t>显示运行</a:t>
            </a:r>
            <a:r>
              <a:rPr lang="zh-CN" altLang="en-US" sz="2400" dirty="0">
                <a:latin typeface="+mn-ea"/>
              </a:rPr>
              <a:t>所用的时间</a:t>
            </a:r>
            <a:r>
              <a:rPr lang="zh-CN" altLang="en-US" sz="2400" dirty="0" smtClean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+mn-ea"/>
              </a:rPr>
              <a:t>团队协作：</a:t>
            </a: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人</a:t>
            </a:r>
            <a:r>
              <a:rPr lang="zh-CN" altLang="en-US" sz="2400" dirty="0">
                <a:latin typeface="+mn-ea"/>
              </a:rPr>
              <a:t>一组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717676" y="3578550"/>
            <a:ext cx="6451597" cy="2852241"/>
            <a:chOff x="1717676" y="3578550"/>
            <a:chExt cx="6451597" cy="2852241"/>
          </a:xfrm>
        </p:grpSpPr>
        <p:sp>
          <p:nvSpPr>
            <p:cNvPr id="22" name="矩形: 圆角 21">
              <a:extLst>
                <a:ext uri="{FF2B5EF4-FFF2-40B4-BE49-F238E27FC236}">
                  <a16:creationId xmlns="" xmlns:a16="http://schemas.microsoft.com/office/drawing/2014/main" id="{917C93BD-77EB-49E1-83B7-04DE5FF38E92}"/>
                </a:ext>
              </a:extLst>
            </p:cNvPr>
            <p:cNvSpPr/>
            <p:nvPr/>
          </p:nvSpPr>
          <p:spPr>
            <a:xfrm>
              <a:off x="1717676" y="4417462"/>
              <a:ext cx="6451597" cy="2013329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="" xmlns:a16="http://schemas.microsoft.com/office/drawing/2014/main" id="{813D4F93-4547-4C04-9242-8E5DC3D2C2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38" t="7966" r="19792" b="53313"/>
            <a:stretch/>
          </p:blipFill>
          <p:spPr>
            <a:xfrm>
              <a:off x="4525696" y="3578550"/>
              <a:ext cx="517500" cy="498847"/>
            </a:xfrm>
            <a:prstGeom prst="rect">
              <a:avLst/>
            </a:prstGeom>
          </p:spPr>
        </p:pic>
        <p:cxnSp>
          <p:nvCxnSpPr>
            <p:cNvPr id="9" name="直接连接符 8">
              <a:extLst>
                <a:ext uri="{FF2B5EF4-FFF2-40B4-BE49-F238E27FC236}">
                  <a16:creationId xmlns="" xmlns:a16="http://schemas.microsoft.com/office/drawing/2014/main" id="{F2368E0A-5296-453F-8638-92ABA28ECAD5}"/>
                </a:ext>
              </a:extLst>
            </p:cNvPr>
            <p:cNvCxnSpPr>
              <a:cxnSpLocks/>
            </p:cNvCxnSpPr>
            <p:nvPr/>
          </p:nvCxnSpPr>
          <p:spPr>
            <a:xfrm>
              <a:off x="4758493" y="4157897"/>
              <a:ext cx="0" cy="51913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>
              <a:extLst>
                <a:ext uri="{FF2B5EF4-FFF2-40B4-BE49-F238E27FC236}">
                  <a16:creationId xmlns="" xmlns:a16="http://schemas.microsoft.com/office/drawing/2014/main" id="{9CF8064C-7E6B-470B-8F48-D51202425B41}"/>
                </a:ext>
              </a:extLst>
            </p:cNvPr>
            <p:cNvGrpSpPr/>
            <p:nvPr/>
          </p:nvGrpSpPr>
          <p:grpSpPr>
            <a:xfrm>
              <a:off x="4922308" y="4136731"/>
              <a:ext cx="830791" cy="575923"/>
              <a:chOff x="4838700" y="3683000"/>
              <a:chExt cx="719664" cy="575923"/>
            </a:xfrm>
          </p:grpSpPr>
          <p:sp>
            <p:nvSpPr>
              <p:cNvPr id="11" name="矩形 10">
                <a:extLst>
                  <a:ext uri="{FF2B5EF4-FFF2-40B4-BE49-F238E27FC236}">
                    <a16:creationId xmlns="" xmlns:a16="http://schemas.microsoft.com/office/drawing/2014/main" id="{C1D7C204-0E33-44D1-9923-2E5E5144189C}"/>
                  </a:ext>
                </a:extLst>
              </p:cNvPr>
              <p:cNvSpPr/>
              <p:nvPr/>
            </p:nvSpPr>
            <p:spPr>
              <a:xfrm>
                <a:off x="5050367" y="3683000"/>
                <a:ext cx="203198" cy="5679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="" xmlns:a16="http://schemas.microsoft.com/office/drawing/2014/main" id="{C4BF01FA-E4F4-420B-A0EC-B1D75BD120D9}"/>
                  </a:ext>
                </a:extLst>
              </p:cNvPr>
              <p:cNvSpPr/>
              <p:nvPr/>
            </p:nvSpPr>
            <p:spPr>
              <a:xfrm>
                <a:off x="5058832" y="4202130"/>
                <a:ext cx="203198" cy="5679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="" xmlns:a16="http://schemas.microsoft.com/office/drawing/2014/main" id="{A567F9F1-5146-4F5A-B3E8-B805D1007A63}"/>
                  </a:ext>
                </a:extLst>
              </p:cNvPr>
              <p:cNvSpPr/>
              <p:nvPr/>
            </p:nvSpPr>
            <p:spPr>
              <a:xfrm>
                <a:off x="5355166" y="3936997"/>
                <a:ext cx="203198" cy="5679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A3F1E09D-E74A-40E6-A978-7EA4D9A35799}"/>
                  </a:ext>
                </a:extLst>
              </p:cNvPr>
              <p:cNvSpPr/>
              <p:nvPr/>
            </p:nvSpPr>
            <p:spPr>
              <a:xfrm>
                <a:off x="4947959" y="3739793"/>
                <a:ext cx="554801" cy="46233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="" xmlns:a16="http://schemas.microsoft.com/office/drawing/2014/main" id="{7AD790D8-2E9A-432E-A144-A67BD7B23977}"/>
                  </a:ext>
                </a:extLst>
              </p:cNvPr>
              <p:cNvSpPr/>
              <p:nvPr/>
            </p:nvSpPr>
            <p:spPr>
              <a:xfrm>
                <a:off x="4838700" y="3818467"/>
                <a:ext cx="109256" cy="9056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="" xmlns:a16="http://schemas.microsoft.com/office/drawing/2014/main" id="{94D9DB5C-295B-4B55-899D-63AD132D697A}"/>
                  </a:ext>
                </a:extLst>
              </p:cNvPr>
              <p:cNvSpPr/>
              <p:nvPr/>
            </p:nvSpPr>
            <p:spPr>
              <a:xfrm>
                <a:off x="4838702" y="4021663"/>
                <a:ext cx="109256" cy="9056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C128CE5C-57C3-49D8-A4B3-9433B06A6188}"/>
                  </a:ext>
                </a:extLst>
              </p:cNvPr>
              <p:cNvSpPr/>
              <p:nvPr/>
            </p:nvSpPr>
            <p:spPr>
              <a:xfrm>
                <a:off x="5040283" y="3862466"/>
                <a:ext cx="340285" cy="226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00" dirty="0"/>
                  <a:t>UNO</a:t>
                </a:r>
                <a:endParaRPr lang="zh-CN" altLang="en-US" sz="600" dirty="0"/>
              </a:p>
            </p:txBody>
          </p:sp>
        </p:grpSp>
        <p:sp>
          <p:nvSpPr>
            <p:cNvPr id="19" name="箭头: 下 18">
              <a:extLst>
                <a:ext uri="{FF2B5EF4-FFF2-40B4-BE49-F238E27FC236}">
                  <a16:creationId xmlns="" xmlns:a16="http://schemas.microsoft.com/office/drawing/2014/main" id="{583BECCE-33DB-4033-9424-1CFA43211F33}"/>
                </a:ext>
              </a:extLst>
            </p:cNvPr>
            <p:cNvSpPr/>
            <p:nvPr/>
          </p:nvSpPr>
          <p:spPr>
            <a:xfrm rot="5400000">
              <a:off x="4244777" y="3959121"/>
              <a:ext cx="241206" cy="313077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725F3873-BAF9-49AF-875A-088AD4DDAEF8}"/>
                </a:ext>
              </a:extLst>
            </p:cNvPr>
            <p:cNvSpPr/>
            <p:nvPr/>
          </p:nvSpPr>
          <p:spPr>
            <a:xfrm>
              <a:off x="1802307" y="5328594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黑线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48244933-7D8A-4F20-9C68-D38FCAB27FAC}"/>
                </a:ext>
              </a:extLst>
            </p:cNvPr>
            <p:cNvSpPr/>
            <p:nvPr/>
          </p:nvSpPr>
          <p:spPr>
            <a:xfrm>
              <a:off x="5101792" y="374005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发车区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C9BFCC47-E601-4B55-B644-B49F461C71B5}"/>
                </a:ext>
              </a:extLst>
            </p:cNvPr>
            <p:cNvSpPr/>
            <p:nvPr/>
          </p:nvSpPr>
          <p:spPr>
            <a:xfrm>
              <a:off x="4303194" y="4747158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起始线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0297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课程评价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60"/>
            <a:ext cx="8458200" cy="4987865"/>
          </a:xfrm>
        </p:spPr>
        <p:txBody>
          <a:bodyPr/>
          <a:lstStyle/>
          <a:p>
            <a:pPr eaLnBrk="1" hangingPunct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大作业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 (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循迹小车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          </a:t>
            </a: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基本任务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Arduino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为控制器，采用光电原理检测路径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，按下启动按键后小车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从发车区出发，经过起始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线沿着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黑线自主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行走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圈（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分钟内完成），再次到达起始线后自动停下，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OLED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显示运行所用的时间。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/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发挥功能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根据所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学知识可拓展其它功能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，如指示灯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、蜂鸣器、红外遥控、蓝牙、显示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即时速度、时钟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、手机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控制与互动等等。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过程评分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，作品验收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（循迹稳定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，自动起停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按键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发挥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技术报告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74428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="" xmlns:a16="http://schemas.microsoft.com/office/drawing/2014/main" id="{1A66EF5E-2BF7-41AB-98C7-38D86A4CA06C}"/>
              </a:ext>
            </a:extLst>
          </p:cNvPr>
          <p:cNvSpPr/>
          <p:nvPr/>
        </p:nvSpPr>
        <p:spPr>
          <a:xfrm>
            <a:off x="4849402" y="2826251"/>
            <a:ext cx="2085654" cy="12688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硬件电路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="" xmlns:a16="http://schemas.microsoft.com/office/drawing/2014/main" id="{CB75B1C3-9B56-4E3F-B34E-1EAD456B333F}"/>
              </a:ext>
            </a:extLst>
          </p:cNvPr>
          <p:cNvSpPr/>
          <p:nvPr/>
        </p:nvSpPr>
        <p:spPr>
          <a:xfrm>
            <a:off x="4849402" y="1141289"/>
            <a:ext cx="2085654" cy="126885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机械设计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="" xmlns:a16="http://schemas.microsoft.com/office/drawing/2014/main" id="{438CA360-D332-4990-A72E-554DF1548C6E}"/>
              </a:ext>
            </a:extLst>
          </p:cNvPr>
          <p:cNvSpPr/>
          <p:nvPr/>
        </p:nvSpPr>
        <p:spPr>
          <a:xfrm>
            <a:off x="4849402" y="4511213"/>
            <a:ext cx="2085654" cy="126885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程序设计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="" xmlns:a16="http://schemas.microsoft.com/office/drawing/2014/main" id="{A66143D9-1750-42C6-9B85-64DDE5ACD869}"/>
              </a:ext>
            </a:extLst>
          </p:cNvPr>
          <p:cNvSpPr/>
          <p:nvPr/>
        </p:nvSpPr>
        <p:spPr>
          <a:xfrm>
            <a:off x="3616502" y="1664413"/>
            <a:ext cx="1109609" cy="397609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="" xmlns:a16="http://schemas.microsoft.com/office/drawing/2014/main" id="{D5FD18DA-9B18-4AF4-ADCC-B6747B2B3981}"/>
              </a:ext>
            </a:extLst>
          </p:cNvPr>
          <p:cNvSpPr/>
          <p:nvPr/>
        </p:nvSpPr>
        <p:spPr>
          <a:xfrm>
            <a:off x="1258584" y="2935842"/>
            <a:ext cx="2085654" cy="126885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循迹小车</a:t>
            </a:r>
          </a:p>
        </p:txBody>
      </p:sp>
    </p:spTree>
    <p:extLst>
      <p:ext uri="{BB962C8B-B14F-4D97-AF65-F5344CB8AC3E}">
        <p14:creationId xmlns:p14="http://schemas.microsoft.com/office/powerpoint/2010/main" val="13951614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9A6EE066-924D-4373-8A8C-AE656F4DFF8E}"/>
              </a:ext>
            </a:extLst>
          </p:cNvPr>
          <p:cNvSpPr/>
          <p:nvPr/>
        </p:nvSpPr>
        <p:spPr>
          <a:xfrm>
            <a:off x="3844075" y="5896779"/>
            <a:ext cx="1455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轮车模底盘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D77D8D10-6B82-49CF-ABD8-5646F8CFE3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72"/>
          <a:stretch/>
        </p:blipFill>
        <p:spPr>
          <a:xfrm>
            <a:off x="1071562" y="1433512"/>
            <a:ext cx="7000875" cy="4200525"/>
          </a:xfrm>
          <a:prstGeom prst="rect">
            <a:avLst/>
          </a:prstGeom>
        </p:spPr>
      </p:pic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84672794-A9FB-461F-89E3-F8B6693E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35" y="7667"/>
            <a:ext cx="7886700" cy="1325563"/>
          </a:xfrm>
        </p:spPr>
        <p:txBody>
          <a:bodyPr/>
          <a:lstStyle/>
          <a:p>
            <a:r>
              <a:rPr lang="zh-CN" altLang="en-US" dirty="0" smtClean="0"/>
              <a:t>一、机械</a:t>
            </a:r>
            <a:r>
              <a:rPr lang="zh-CN" altLang="en-US" dirty="0"/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27262078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84672794-A9FB-461F-89E3-F8B6693E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804" y="339317"/>
            <a:ext cx="4083885" cy="1069279"/>
          </a:xfrm>
        </p:spPr>
        <p:txBody>
          <a:bodyPr/>
          <a:lstStyle/>
          <a:p>
            <a:r>
              <a:rPr lang="zh-CN" altLang="en-US" dirty="0" smtClean="0"/>
              <a:t>智能车模型</a:t>
            </a:r>
            <a:endParaRPr lang="zh-CN" altLang="en-US" dirty="0"/>
          </a:p>
        </p:txBody>
      </p:sp>
      <p:pic>
        <p:nvPicPr>
          <p:cNvPr id="1028" name="Picture 4" descr="https://img2.baidu.com/it/u=1380901913,4194247505&amp;fm=253&amp;fmt=auto&amp;app=138&amp;f=JPEG?w=620&amp;h=44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1" r="13882" b="7038"/>
          <a:stretch/>
        </p:blipFill>
        <p:spPr bwMode="auto">
          <a:xfrm>
            <a:off x="167603" y="1328705"/>
            <a:ext cx="5622851" cy="537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gd3.alicdn.com/imgextra/i4/2209489187951/O1CN01qn3aa528bbuFfF0NZ_!!220948918795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6" t="12644" r="12550" b="7191"/>
          <a:stretch/>
        </p:blipFill>
        <p:spPr bwMode="auto">
          <a:xfrm>
            <a:off x="5467549" y="2148955"/>
            <a:ext cx="3591612" cy="381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94918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9A6EE066-924D-4373-8A8C-AE656F4DFF8E}"/>
              </a:ext>
            </a:extLst>
          </p:cNvPr>
          <p:cNvSpPr/>
          <p:nvPr/>
        </p:nvSpPr>
        <p:spPr>
          <a:xfrm>
            <a:off x="3844075" y="5896779"/>
            <a:ext cx="1455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轮车模底盘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D77D8D10-6B82-49CF-ABD8-5646F8CFE3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72"/>
          <a:stretch/>
        </p:blipFill>
        <p:spPr>
          <a:xfrm>
            <a:off x="1071562" y="1433512"/>
            <a:ext cx="7000875" cy="4200525"/>
          </a:xfrm>
          <a:prstGeom prst="rect">
            <a:avLst/>
          </a:prstGeom>
        </p:spPr>
      </p:pic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84672794-A9FB-461F-89E3-F8B6693E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35" y="7667"/>
            <a:ext cx="7886700" cy="1325563"/>
          </a:xfrm>
        </p:spPr>
        <p:txBody>
          <a:bodyPr/>
          <a:lstStyle/>
          <a:p>
            <a:r>
              <a:rPr lang="zh-CN" altLang="en-US" dirty="0" smtClean="0"/>
              <a:t>一、机械</a:t>
            </a:r>
            <a:r>
              <a:rPr lang="zh-CN" altLang="en-US" dirty="0"/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11263762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5025240" y="1342395"/>
            <a:ext cx="1637872" cy="1776998"/>
            <a:chOff x="5025240" y="1342395"/>
            <a:chExt cx="1637872" cy="1776998"/>
          </a:xfrm>
        </p:grpSpPr>
        <p:sp>
          <p:nvSpPr>
            <p:cNvPr id="18" name="矩形: 圆角 17">
              <a:extLst>
                <a:ext uri="{FF2B5EF4-FFF2-40B4-BE49-F238E27FC236}">
                  <a16:creationId xmlns="" xmlns:a16="http://schemas.microsoft.com/office/drawing/2014/main" id="{7B9EA45E-6663-45F1-BB3D-535D44DE86EB}"/>
                </a:ext>
              </a:extLst>
            </p:cNvPr>
            <p:cNvSpPr/>
            <p:nvPr/>
          </p:nvSpPr>
          <p:spPr>
            <a:xfrm>
              <a:off x="5594598" y="1342395"/>
              <a:ext cx="1068514" cy="833918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PC</a:t>
              </a:r>
              <a:r>
                <a:rPr lang="zh-CN" altLang="en-US" dirty="0"/>
                <a:t>机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="" xmlns:a16="http://schemas.microsoft.com/office/drawing/2014/main" id="{D1D3923F-CA5E-40AB-AB4A-EB9E7F3B6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5240" y="2176313"/>
              <a:ext cx="569358" cy="94308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1106505" y="1342395"/>
            <a:ext cx="7292939" cy="4507779"/>
            <a:chOff x="1106505" y="1342395"/>
            <a:chExt cx="7292939" cy="4507779"/>
          </a:xfrm>
        </p:grpSpPr>
        <p:sp>
          <p:nvSpPr>
            <p:cNvPr id="4" name="矩形: 圆角 3">
              <a:extLst>
                <a:ext uri="{FF2B5EF4-FFF2-40B4-BE49-F238E27FC236}">
                  <a16:creationId xmlns="" xmlns:a16="http://schemas.microsoft.com/office/drawing/2014/main" id="{4A02C742-F730-4CD4-8909-78CB09C77C83}"/>
                </a:ext>
              </a:extLst>
            </p:cNvPr>
            <p:cNvSpPr/>
            <p:nvPr/>
          </p:nvSpPr>
          <p:spPr>
            <a:xfrm>
              <a:off x="2993525" y="3130201"/>
              <a:ext cx="2085654" cy="1268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Arduino</a:t>
              </a:r>
              <a:endParaRPr lang="zh-CN" altLang="en-US" dirty="0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="" xmlns:a16="http://schemas.microsoft.com/office/drawing/2014/main" id="{F77CF8CB-16C7-47B0-B073-BCEE2740174A}"/>
                </a:ext>
              </a:extLst>
            </p:cNvPr>
            <p:cNvSpPr/>
            <p:nvPr/>
          </p:nvSpPr>
          <p:spPr>
            <a:xfrm>
              <a:off x="1106505" y="3120676"/>
              <a:ext cx="1551398" cy="5753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光电检测 左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="" xmlns:a16="http://schemas.microsoft.com/office/drawing/2014/main" id="{F5B12907-579B-4594-8183-4324A2B4F1E9}"/>
                </a:ext>
              </a:extLst>
            </p:cNvPr>
            <p:cNvSpPr/>
            <p:nvPr/>
          </p:nvSpPr>
          <p:spPr>
            <a:xfrm>
              <a:off x="3502095" y="1342395"/>
              <a:ext cx="1068514" cy="833918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电源</a:t>
              </a:r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="" xmlns:a16="http://schemas.microsoft.com/office/drawing/2014/main" id="{1ADC8CAC-6BF5-4F48-9345-5E4F3DCA5351}"/>
                </a:ext>
              </a:extLst>
            </p:cNvPr>
            <p:cNvSpPr/>
            <p:nvPr/>
          </p:nvSpPr>
          <p:spPr>
            <a:xfrm>
              <a:off x="5464461" y="3120676"/>
              <a:ext cx="868166" cy="1268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电机驱动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="" xmlns:a16="http://schemas.microsoft.com/office/drawing/2014/main" id="{F159E27A-4022-4802-9C2F-494A871909E6}"/>
                </a:ext>
              </a:extLst>
            </p:cNvPr>
            <p:cNvSpPr/>
            <p:nvPr/>
          </p:nvSpPr>
          <p:spPr>
            <a:xfrm>
              <a:off x="1106505" y="3814181"/>
              <a:ext cx="1551398" cy="5753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光电检测 右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="" xmlns:a16="http://schemas.microsoft.com/office/drawing/2014/main" id="{D1A6704B-89CB-48BD-8B37-FA947A1B90C4}"/>
                </a:ext>
              </a:extLst>
            </p:cNvPr>
            <p:cNvSpPr/>
            <p:nvPr/>
          </p:nvSpPr>
          <p:spPr>
            <a:xfrm>
              <a:off x="6848046" y="3119392"/>
              <a:ext cx="1551398" cy="5753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电机</a:t>
              </a:r>
              <a:r>
                <a:rPr lang="en-US" altLang="zh-CN" dirty="0"/>
                <a:t>(</a:t>
              </a:r>
              <a:r>
                <a:rPr lang="zh-CN" altLang="en-US" dirty="0"/>
                <a:t>左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="" xmlns:a16="http://schemas.microsoft.com/office/drawing/2014/main" id="{874E3289-B0D8-4B7F-912C-B8E48A31317C}"/>
                </a:ext>
              </a:extLst>
            </p:cNvPr>
            <p:cNvSpPr/>
            <p:nvPr/>
          </p:nvSpPr>
          <p:spPr>
            <a:xfrm>
              <a:off x="6848046" y="3812897"/>
              <a:ext cx="1551398" cy="5753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电机</a:t>
              </a:r>
              <a:r>
                <a:rPr lang="en-US" altLang="zh-CN" dirty="0"/>
                <a:t>(</a:t>
              </a:r>
              <a:r>
                <a:rPr lang="zh-CN" altLang="en-US" dirty="0"/>
                <a:t>右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="" xmlns:a16="http://schemas.microsoft.com/office/drawing/2014/main" id="{409C2257-4408-4242-AAE2-3A7314DD300D}"/>
                </a:ext>
              </a:extLst>
            </p:cNvPr>
            <p:cNvSpPr/>
            <p:nvPr/>
          </p:nvSpPr>
          <p:spPr>
            <a:xfrm>
              <a:off x="2993525" y="4928069"/>
              <a:ext cx="801384" cy="92210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按键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="" xmlns:a16="http://schemas.microsoft.com/office/drawing/2014/main" id="{0CA48DC3-5985-46DC-A546-9F074431D644}"/>
                </a:ext>
              </a:extLst>
            </p:cNvPr>
            <p:cNvSpPr/>
            <p:nvPr/>
          </p:nvSpPr>
          <p:spPr>
            <a:xfrm>
              <a:off x="4036352" y="4928068"/>
              <a:ext cx="988888" cy="92210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显示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="" xmlns:a16="http://schemas.microsoft.com/office/drawing/2014/main" id="{5A466FCA-E52D-4BA1-A752-5EF2C4AF63C0}"/>
                </a:ext>
              </a:extLst>
            </p:cNvPr>
            <p:cNvCxnSpPr>
              <a:stCxn id="6" idx="2"/>
              <a:endCxn id="4" idx="0"/>
            </p:cNvCxnSpPr>
            <p:nvPr/>
          </p:nvCxnSpPr>
          <p:spPr>
            <a:xfrm>
              <a:off x="4036352" y="2176313"/>
              <a:ext cx="0" cy="9538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="" xmlns:a16="http://schemas.microsoft.com/office/drawing/2014/main" id="{70195DCC-807D-460A-A84B-263ABBD411CF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2657903" y="3408352"/>
              <a:ext cx="33562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="" xmlns:a16="http://schemas.microsoft.com/office/drawing/2014/main" id="{D6287D60-C449-4B6E-9D42-8C9B8B0C1AA7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2657903" y="4100573"/>
              <a:ext cx="335622" cy="12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="" xmlns:a16="http://schemas.microsoft.com/office/drawing/2014/main" id="{5A21E831-CD63-45DC-AF08-F25371878BE2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394217" y="4388249"/>
              <a:ext cx="0" cy="5398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="" xmlns:a16="http://schemas.microsoft.com/office/drawing/2014/main" id="{21FCACB0-F4E0-49A6-9B57-5AA452B086B8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4530796" y="4388249"/>
              <a:ext cx="0" cy="5398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="" xmlns:a16="http://schemas.microsoft.com/office/drawing/2014/main" id="{82E1FFB6-0979-4441-83EC-3ACA0C36F286}"/>
                </a:ext>
              </a:extLst>
            </p:cNvPr>
            <p:cNvCxnSpPr>
              <a:cxnSpLocks/>
            </p:cNvCxnSpPr>
            <p:nvPr/>
          </p:nvCxnSpPr>
          <p:spPr>
            <a:xfrm>
              <a:off x="5104436" y="3430184"/>
              <a:ext cx="38528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="" xmlns:a16="http://schemas.microsoft.com/office/drawing/2014/main" id="{026F0CB0-C876-477D-9273-9C64725AD6F7}"/>
                </a:ext>
              </a:extLst>
            </p:cNvPr>
            <p:cNvCxnSpPr>
              <a:cxnSpLocks/>
            </p:cNvCxnSpPr>
            <p:nvPr/>
          </p:nvCxnSpPr>
          <p:spPr>
            <a:xfrm>
              <a:off x="5104436" y="4100573"/>
              <a:ext cx="38528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="" xmlns:a16="http://schemas.microsoft.com/office/drawing/2014/main" id="{047A01AF-A5DE-43DA-B254-DDACADD14F12}"/>
                </a:ext>
              </a:extLst>
            </p:cNvPr>
            <p:cNvCxnSpPr>
              <a:cxnSpLocks/>
            </p:cNvCxnSpPr>
            <p:nvPr/>
          </p:nvCxnSpPr>
          <p:spPr>
            <a:xfrm>
              <a:off x="6332627" y="3423763"/>
              <a:ext cx="51541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="" xmlns:a16="http://schemas.microsoft.com/office/drawing/2014/main" id="{84EBA596-0B32-4FDD-A479-0702C81F2C68}"/>
                </a:ext>
              </a:extLst>
            </p:cNvPr>
            <p:cNvCxnSpPr>
              <a:cxnSpLocks/>
            </p:cNvCxnSpPr>
            <p:nvPr/>
          </p:nvCxnSpPr>
          <p:spPr>
            <a:xfrm>
              <a:off x="6332627" y="4100573"/>
              <a:ext cx="51541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0422E05D-A14C-4FFE-9958-447D17B60DC4}"/>
              </a:ext>
            </a:extLst>
          </p:cNvPr>
          <p:cNvSpPr/>
          <p:nvPr/>
        </p:nvSpPr>
        <p:spPr>
          <a:xfrm>
            <a:off x="2876764" y="601792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循迹小车系统框图</a:t>
            </a:r>
          </a:p>
        </p:txBody>
      </p:sp>
      <p:sp>
        <p:nvSpPr>
          <p:cNvPr id="51" name="标题 1">
            <a:extLst>
              <a:ext uri="{FF2B5EF4-FFF2-40B4-BE49-F238E27FC236}">
                <a16:creationId xmlns="" xmlns:a16="http://schemas.microsoft.com/office/drawing/2014/main" id="{41511703-E394-414D-B03E-238AD012348E}"/>
              </a:ext>
            </a:extLst>
          </p:cNvPr>
          <p:cNvSpPr txBox="1">
            <a:spLocks/>
          </p:cNvSpPr>
          <p:nvPr/>
        </p:nvSpPr>
        <p:spPr>
          <a:xfrm>
            <a:off x="714743" y="16832"/>
            <a:ext cx="40382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二、硬件</a:t>
            </a:r>
            <a:r>
              <a:rPr lang="zh-CN" altLang="en-US" dirty="0"/>
              <a:t>电路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5128189" y="4388249"/>
            <a:ext cx="2105732" cy="1752004"/>
            <a:chOff x="5128189" y="4388249"/>
            <a:chExt cx="2105732" cy="1752004"/>
          </a:xfrm>
        </p:grpSpPr>
        <p:sp>
          <p:nvSpPr>
            <p:cNvPr id="31" name="矩形: 圆角 17">
              <a:extLst>
                <a:ext uri="{FF2B5EF4-FFF2-40B4-BE49-F238E27FC236}">
                  <a16:creationId xmlns="" xmlns:a16="http://schemas.microsoft.com/office/drawing/2014/main" id="{7B9EA45E-6663-45F1-BB3D-535D44DE86EB}"/>
                </a:ext>
              </a:extLst>
            </p:cNvPr>
            <p:cNvSpPr/>
            <p:nvPr/>
          </p:nvSpPr>
          <p:spPr>
            <a:xfrm>
              <a:off x="5718073" y="5306335"/>
              <a:ext cx="1515848" cy="833918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拓展功能</a:t>
              </a:r>
              <a:endParaRPr lang="zh-CN" altLang="en-US" dirty="0"/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="" xmlns:a16="http://schemas.microsoft.com/office/drawing/2014/main" id="{D1D3923F-CA5E-40AB-AB4A-EB9E7F3B6FEB}"/>
                </a:ext>
              </a:extLst>
            </p:cNvPr>
            <p:cNvCxnSpPr>
              <a:cxnSpLocks/>
            </p:cNvCxnSpPr>
            <p:nvPr/>
          </p:nvCxnSpPr>
          <p:spPr>
            <a:xfrm>
              <a:off x="5128189" y="4388249"/>
              <a:ext cx="569358" cy="94308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45885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D77D8D10-6B82-49CF-ABD8-5646F8CFE3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72"/>
          <a:stretch/>
        </p:blipFill>
        <p:spPr>
          <a:xfrm>
            <a:off x="290512" y="1843089"/>
            <a:ext cx="5326063" cy="3195638"/>
          </a:xfrm>
          <a:prstGeom prst="rect">
            <a:avLst/>
          </a:prstGeom>
        </p:spPr>
      </p:pic>
      <p:sp>
        <p:nvSpPr>
          <p:cNvPr id="7" name="标题 1"/>
          <p:cNvSpPr txBox="1">
            <a:spLocks/>
          </p:cNvSpPr>
          <p:nvPr/>
        </p:nvSpPr>
        <p:spPr>
          <a:xfrm>
            <a:off x="771525" y="24130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电机的驱动</a:t>
            </a:r>
            <a:endParaRPr lang="zh-CN" altLang="en-US" dirty="0"/>
          </a:p>
        </p:txBody>
      </p:sp>
      <p:pic>
        <p:nvPicPr>
          <p:cNvPr id="1026" name="Picture 2" descr="https://gd2.alicdn.com/imgextra/i4/840554240/TB24R21xnCWBKNjSZFtXXaC3FXa_!!84055424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4" y="3492639"/>
            <a:ext cx="3305089" cy="257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97D658FF-F87B-4FB0-8961-9AEB40DC6EE2}"/>
              </a:ext>
            </a:extLst>
          </p:cNvPr>
          <p:cNvSpPr/>
          <p:nvPr/>
        </p:nvSpPr>
        <p:spPr>
          <a:xfrm>
            <a:off x="6398447" y="1566864"/>
            <a:ext cx="19572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3200" dirty="0" smtClean="0">
                <a:solidFill>
                  <a:srgbClr val="FF0000"/>
                </a:solidFill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</a:rPr>
              <a:t>前进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dirty="0" smtClean="0">
                <a:solidFill>
                  <a:srgbClr val="FF0000"/>
                </a:solidFill>
              </a:rPr>
              <a:t> 后退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dirty="0" smtClean="0">
                <a:solidFill>
                  <a:srgbClr val="FF0000"/>
                </a:solidFill>
              </a:rPr>
              <a:t> 转向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9688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11" b="6303"/>
          <a:stretch/>
        </p:blipFill>
        <p:spPr>
          <a:xfrm>
            <a:off x="1166493" y="1516063"/>
            <a:ext cx="6811014" cy="4379912"/>
          </a:xfr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97D658FF-F87B-4FB0-8961-9AEB40DC6EE2}"/>
              </a:ext>
            </a:extLst>
          </p:cNvPr>
          <p:cNvSpPr/>
          <p:nvPr/>
        </p:nvSpPr>
        <p:spPr>
          <a:xfrm>
            <a:off x="347926" y="6008171"/>
            <a:ext cx="8448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内置低导通内阻</a:t>
            </a:r>
            <a:r>
              <a:rPr lang="en-US" altLang="zh-CN" b="1" dirty="0"/>
              <a:t>MOS</a:t>
            </a:r>
            <a:r>
              <a:rPr lang="zh-CN" altLang="en-US" b="1" dirty="0"/>
              <a:t>开关管，双路</a:t>
            </a:r>
            <a:r>
              <a:rPr lang="en-US" altLang="zh-CN" b="1" dirty="0"/>
              <a:t>1.5A*2,</a:t>
            </a:r>
            <a:r>
              <a:rPr lang="zh-CN" altLang="en-US" b="1" dirty="0"/>
              <a:t>峰值电流可到</a:t>
            </a:r>
            <a:r>
              <a:rPr lang="en-US" altLang="zh-CN" b="1" dirty="0"/>
              <a:t>2.5A, </a:t>
            </a:r>
            <a:r>
              <a:rPr lang="zh-CN" altLang="en-US" b="1" dirty="0"/>
              <a:t>内置过热保护电路</a:t>
            </a:r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="" xmlns:a16="http://schemas.microsoft.com/office/drawing/2014/main" id="{DC0F4EE8-A9A2-452D-9868-1E9222DF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0500"/>
            <a:ext cx="7886700" cy="1325563"/>
          </a:xfrm>
        </p:spPr>
        <p:txBody>
          <a:bodyPr/>
          <a:lstStyle/>
          <a:p>
            <a:r>
              <a:rPr lang="en-US" altLang="zh-CN" b="1" dirty="0"/>
              <a:t>2</a:t>
            </a:r>
            <a:r>
              <a:rPr lang="zh-CN" altLang="en-US" b="1" dirty="0"/>
              <a:t>路直流电机驱动模块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sz="3200" b="1" dirty="0"/>
              <a:t>正反转 </a:t>
            </a:r>
            <a:r>
              <a:rPr lang="en-US" altLang="zh-CN" sz="3200" b="1" dirty="0"/>
              <a:t>PWM</a:t>
            </a:r>
            <a:r>
              <a:rPr lang="zh-CN" altLang="en-US" sz="3200" b="1" dirty="0"/>
              <a:t>调速  双</a:t>
            </a:r>
            <a:r>
              <a:rPr lang="en-US" altLang="zh-CN" sz="3200" b="1" dirty="0"/>
              <a:t>H</a:t>
            </a:r>
            <a:r>
              <a:rPr lang="zh-CN" altLang="en-US" sz="3200" b="1" dirty="0"/>
              <a:t>桥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962274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电机驱动</a:t>
            </a:r>
            <a:r>
              <a:rPr lang="en-US" altLang="zh-CN" dirty="0"/>
              <a:t>--L298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908" y="1414462"/>
            <a:ext cx="5796184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283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红外光电检测电路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1852612" y="1757365"/>
            <a:ext cx="5743575" cy="4587702"/>
            <a:chOff x="581025" y="1843090"/>
            <a:chExt cx="5743575" cy="4587702"/>
          </a:xfrm>
        </p:grpSpPr>
        <p:sp>
          <p:nvSpPr>
            <p:cNvPr id="12" name="矩形: 圆角 21">
              <a:extLst>
                <a:ext uri="{FF2B5EF4-FFF2-40B4-BE49-F238E27FC236}">
                  <a16:creationId xmlns="" xmlns:a16="http://schemas.microsoft.com/office/drawing/2014/main" id="{917C93BD-77EB-49E1-83B7-04DE5FF38E92}"/>
                </a:ext>
              </a:extLst>
            </p:cNvPr>
            <p:cNvSpPr/>
            <p:nvPr/>
          </p:nvSpPr>
          <p:spPr>
            <a:xfrm>
              <a:off x="581025" y="3192442"/>
              <a:ext cx="5743575" cy="323835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>
              <a:extLst>
                <a:ext uri="{FF2B5EF4-FFF2-40B4-BE49-F238E27FC236}">
                  <a16:creationId xmlns="" xmlns:a16="http://schemas.microsoft.com/office/drawing/2014/main" id="{813D4F93-4547-4C04-9242-8E5DC3D2C2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38" t="7966" r="19792" b="53313"/>
            <a:stretch/>
          </p:blipFill>
          <p:spPr>
            <a:xfrm>
              <a:off x="2243079" y="1843090"/>
              <a:ext cx="841702" cy="802373"/>
            </a:xfrm>
            <a:prstGeom prst="rect">
              <a:avLst/>
            </a:prstGeom>
          </p:spPr>
        </p:pic>
        <p:cxnSp>
          <p:nvCxnSpPr>
            <p:cNvPr id="14" name="直接连接符 13">
              <a:extLst>
                <a:ext uri="{FF2B5EF4-FFF2-40B4-BE49-F238E27FC236}">
                  <a16:creationId xmlns="" xmlns:a16="http://schemas.microsoft.com/office/drawing/2014/main" id="{F2368E0A-5296-453F-8638-92ABA28ECAD5}"/>
                </a:ext>
              </a:extLst>
            </p:cNvPr>
            <p:cNvCxnSpPr>
              <a:cxnSpLocks/>
            </p:cNvCxnSpPr>
            <p:nvPr/>
          </p:nvCxnSpPr>
          <p:spPr>
            <a:xfrm>
              <a:off x="2926518" y="2774943"/>
              <a:ext cx="0" cy="83499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>
              <a:extLst>
                <a:ext uri="{FF2B5EF4-FFF2-40B4-BE49-F238E27FC236}">
                  <a16:creationId xmlns="" xmlns:a16="http://schemas.microsoft.com/office/drawing/2014/main" id="{9CF8064C-7E6B-470B-8F48-D51202425B41}"/>
                </a:ext>
              </a:extLst>
            </p:cNvPr>
            <p:cNvGrpSpPr/>
            <p:nvPr/>
          </p:nvGrpSpPr>
          <p:grpSpPr>
            <a:xfrm>
              <a:off x="4224978" y="2729269"/>
              <a:ext cx="1170517" cy="926346"/>
              <a:chOff x="4838700" y="3683000"/>
              <a:chExt cx="719664" cy="575923"/>
            </a:xfrm>
          </p:grpSpPr>
          <p:sp>
            <p:nvSpPr>
              <p:cNvPr id="20" name="矩形 19">
                <a:extLst>
                  <a:ext uri="{FF2B5EF4-FFF2-40B4-BE49-F238E27FC236}">
                    <a16:creationId xmlns="" xmlns:a16="http://schemas.microsoft.com/office/drawing/2014/main" id="{C1D7C204-0E33-44D1-9923-2E5E5144189C}"/>
                  </a:ext>
                </a:extLst>
              </p:cNvPr>
              <p:cNvSpPr/>
              <p:nvPr/>
            </p:nvSpPr>
            <p:spPr>
              <a:xfrm>
                <a:off x="5050367" y="3683000"/>
                <a:ext cx="203198" cy="5679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="" xmlns:a16="http://schemas.microsoft.com/office/drawing/2014/main" id="{C4BF01FA-E4F4-420B-A0EC-B1D75BD120D9}"/>
                  </a:ext>
                </a:extLst>
              </p:cNvPr>
              <p:cNvSpPr/>
              <p:nvPr/>
            </p:nvSpPr>
            <p:spPr>
              <a:xfrm>
                <a:off x="5058832" y="4202130"/>
                <a:ext cx="203198" cy="5679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="" xmlns:a16="http://schemas.microsoft.com/office/drawing/2014/main" id="{A567F9F1-5146-4F5A-B3E8-B805D1007A63}"/>
                  </a:ext>
                </a:extLst>
              </p:cNvPr>
              <p:cNvSpPr/>
              <p:nvPr/>
            </p:nvSpPr>
            <p:spPr>
              <a:xfrm>
                <a:off x="5355166" y="3936997"/>
                <a:ext cx="203198" cy="5679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="" xmlns:a16="http://schemas.microsoft.com/office/drawing/2014/main" id="{A3F1E09D-E74A-40E6-A978-7EA4D9A35799}"/>
                  </a:ext>
                </a:extLst>
              </p:cNvPr>
              <p:cNvSpPr/>
              <p:nvPr/>
            </p:nvSpPr>
            <p:spPr>
              <a:xfrm>
                <a:off x="4947959" y="3739793"/>
                <a:ext cx="554801" cy="46233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="" xmlns:a16="http://schemas.microsoft.com/office/drawing/2014/main" id="{7AD790D8-2E9A-432E-A144-A67BD7B23977}"/>
                  </a:ext>
                </a:extLst>
              </p:cNvPr>
              <p:cNvSpPr/>
              <p:nvPr/>
            </p:nvSpPr>
            <p:spPr>
              <a:xfrm>
                <a:off x="4838700" y="3818467"/>
                <a:ext cx="109256" cy="9056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="" xmlns:a16="http://schemas.microsoft.com/office/drawing/2014/main" id="{94D9DB5C-295B-4B55-899D-63AD132D697A}"/>
                  </a:ext>
                </a:extLst>
              </p:cNvPr>
              <p:cNvSpPr/>
              <p:nvPr/>
            </p:nvSpPr>
            <p:spPr>
              <a:xfrm>
                <a:off x="4838702" y="4021663"/>
                <a:ext cx="109256" cy="9056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="" xmlns:a16="http://schemas.microsoft.com/office/drawing/2014/main" id="{C128CE5C-57C3-49D8-A4B3-9433B06A6188}"/>
                  </a:ext>
                </a:extLst>
              </p:cNvPr>
              <p:cNvSpPr/>
              <p:nvPr/>
            </p:nvSpPr>
            <p:spPr>
              <a:xfrm>
                <a:off x="5040283" y="3862466"/>
                <a:ext cx="340285" cy="226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00" dirty="0"/>
                  <a:t>UNO</a:t>
                </a:r>
                <a:endParaRPr lang="zh-CN" altLang="en-US" sz="600" dirty="0"/>
              </a:p>
            </p:txBody>
          </p:sp>
        </p:grpSp>
        <p:sp>
          <p:nvSpPr>
            <p:cNvPr id="16" name="箭头: 下 18">
              <a:extLst>
                <a:ext uri="{FF2B5EF4-FFF2-40B4-BE49-F238E27FC236}">
                  <a16:creationId xmlns="" xmlns:a16="http://schemas.microsoft.com/office/drawing/2014/main" id="{583BECCE-33DB-4033-9424-1CFA43211F33}"/>
                </a:ext>
              </a:extLst>
            </p:cNvPr>
            <p:cNvSpPr/>
            <p:nvPr/>
          </p:nvSpPr>
          <p:spPr>
            <a:xfrm rot="5400000">
              <a:off x="1788345" y="2452400"/>
              <a:ext cx="387969" cy="509212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725F3873-BAF9-49AF-875A-088AD4DDAEF8}"/>
                </a:ext>
              </a:extLst>
            </p:cNvPr>
            <p:cNvSpPr/>
            <p:nvPr/>
          </p:nvSpPr>
          <p:spPr>
            <a:xfrm>
              <a:off x="676481" y="4715107"/>
              <a:ext cx="1051242" cy="594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黑线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="" xmlns:a16="http://schemas.microsoft.com/office/drawing/2014/main" id="{48244933-7D8A-4F20-9C68-D38FCAB27FAC}"/>
                </a:ext>
              </a:extLst>
            </p:cNvPr>
            <p:cNvSpPr/>
            <p:nvPr/>
          </p:nvSpPr>
          <p:spPr>
            <a:xfrm>
              <a:off x="3180086" y="2102856"/>
              <a:ext cx="1426685" cy="594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发车区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="" xmlns:a16="http://schemas.microsoft.com/office/drawing/2014/main" id="{C9BFCC47-E601-4B55-B644-B49F461C71B5}"/>
                </a:ext>
              </a:extLst>
            </p:cNvPr>
            <p:cNvSpPr/>
            <p:nvPr/>
          </p:nvSpPr>
          <p:spPr>
            <a:xfrm>
              <a:off x="1881185" y="3722744"/>
              <a:ext cx="1426685" cy="594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起始线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209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红外光电检测电路</a:t>
            </a:r>
          </a:p>
        </p:txBody>
      </p:sp>
      <p:sp>
        <p:nvSpPr>
          <p:cNvPr id="8" name="矩形 7"/>
          <p:cNvSpPr/>
          <p:nvPr/>
        </p:nvSpPr>
        <p:spPr>
          <a:xfrm>
            <a:off x="3884615" y="5488305"/>
            <a:ext cx="4631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请问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zh-CN" altLang="en-US" sz="24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</a:t>
            </a:r>
            <a:r>
              <a:rPr lang="zh-CN" altLang="en-US" sz="24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如何确定？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605156A-3C13-4D4D-BEC8-24450645B8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7" t="4851" r="19793" b="20494"/>
          <a:stretch/>
        </p:blipFill>
        <p:spPr>
          <a:xfrm>
            <a:off x="616374" y="1843089"/>
            <a:ext cx="2686626" cy="34528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r="57575"/>
          <a:stretch/>
        </p:blipFill>
        <p:spPr>
          <a:xfrm>
            <a:off x="3884615" y="1843090"/>
            <a:ext cx="1835465" cy="3364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43598"/>
          <a:stretch/>
        </p:blipFill>
        <p:spPr>
          <a:xfrm>
            <a:off x="5770880" y="1843090"/>
            <a:ext cx="2440162" cy="336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9929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红外发射、接收管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8650" y="1758146"/>
            <a:ext cx="1055464" cy="331880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69143" y="5470066"/>
            <a:ext cx="2414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0" u="none" strike="noStrike" baseline="0" dirty="0">
                <a:latin typeface="Times New Roman" panose="02020603050405020304" pitchFamily="18" charset="0"/>
              </a:rPr>
              <a:t>IR333</a:t>
            </a:r>
            <a:r>
              <a:rPr lang="zh-CN" altLang="en-US" b="1" i="0" u="none" strike="noStrike" baseline="0" dirty="0">
                <a:latin typeface="Times New Roman" panose="02020603050405020304" pitchFamily="18" charset="0"/>
              </a:rPr>
              <a:t>红外发光二极管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457574" y="6071194"/>
            <a:ext cx="6047489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红外发射管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：中心波长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940nm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=20mA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kern="1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kern="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1.2V</a:t>
            </a:r>
            <a:r>
              <a:rPr lang="zh-CN" altLang="en-US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6859" y="1662242"/>
            <a:ext cx="1310790" cy="337226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047773" y="5423904"/>
            <a:ext cx="2452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0" u="none" strike="noStrike" baseline="0" dirty="0">
                <a:latin typeface="Times New Roman" panose="02020603050405020304" pitchFamily="18" charset="0"/>
              </a:rPr>
              <a:t>PT334</a:t>
            </a:r>
            <a:r>
              <a:rPr lang="zh-CN" altLang="en-US" b="1" i="0" u="none" strike="noStrike" baseline="0" dirty="0">
                <a:latin typeface="Times New Roman" panose="02020603050405020304" pitchFamily="18" charset="0"/>
              </a:rPr>
              <a:t>红外光敏三极管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854" y="1662242"/>
            <a:ext cx="2329196" cy="38148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6899" y="1419008"/>
            <a:ext cx="2463105" cy="362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9487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3" y="518474"/>
            <a:ext cx="4352411" cy="58054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805" y="518472"/>
            <a:ext cx="4353483" cy="580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9441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07" y="1512405"/>
            <a:ext cx="7582557" cy="3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599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70" y="829559"/>
            <a:ext cx="8409858" cy="52130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333598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0422E05D-A14C-4FFE-9958-447D17B60DC4}"/>
              </a:ext>
            </a:extLst>
          </p:cNvPr>
          <p:cNvSpPr/>
          <p:nvPr/>
        </p:nvSpPr>
        <p:spPr>
          <a:xfrm>
            <a:off x="1315175" y="1159515"/>
            <a:ext cx="6875600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分步测试：</a:t>
            </a:r>
            <a:endParaRPr lang="en-US" altLang="zh-CN" sz="40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）电机的正转、反转、调速；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）光电检测电路的输出值，确定阈值；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）按键（去抖动、消循环检测）；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OLED</a:t>
            </a:r>
            <a:r>
              <a:rPr lang="zh-CN" altLang="en-US" sz="2800" dirty="0" smtClean="0"/>
              <a:t>显示；</a:t>
            </a:r>
            <a:endParaRPr lang="zh-CN" altLang="en-US" sz="2800" dirty="0"/>
          </a:p>
        </p:txBody>
      </p:sp>
      <p:sp>
        <p:nvSpPr>
          <p:cNvPr id="51" name="标题 1">
            <a:extLst>
              <a:ext uri="{FF2B5EF4-FFF2-40B4-BE49-F238E27FC236}">
                <a16:creationId xmlns="" xmlns:a16="http://schemas.microsoft.com/office/drawing/2014/main" id="{41511703-E394-414D-B03E-238AD012348E}"/>
              </a:ext>
            </a:extLst>
          </p:cNvPr>
          <p:cNvSpPr txBox="1">
            <a:spLocks/>
          </p:cNvSpPr>
          <p:nvPr/>
        </p:nvSpPr>
        <p:spPr>
          <a:xfrm>
            <a:off x="714743" y="16832"/>
            <a:ext cx="40382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三、程序设计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13589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0422E05D-A14C-4FFE-9958-447D17B60DC4}"/>
              </a:ext>
            </a:extLst>
          </p:cNvPr>
          <p:cNvSpPr/>
          <p:nvPr/>
        </p:nvSpPr>
        <p:spPr>
          <a:xfrm>
            <a:off x="2249895" y="1200155"/>
            <a:ext cx="4990469" cy="424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整体调试：</a:t>
            </a:r>
            <a:endParaRPr lang="en-US" altLang="zh-CN" sz="40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）小车走直线；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）小车转弯；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）按键启动与停止；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）运行计时和</a:t>
            </a:r>
            <a:r>
              <a:rPr lang="en-US" altLang="zh-CN" sz="2800" dirty="0" smtClean="0"/>
              <a:t>OLED</a:t>
            </a:r>
            <a:r>
              <a:rPr lang="zh-CN" altLang="en-US" sz="2800" dirty="0" smtClean="0"/>
              <a:t>显示；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）拓展功能；</a:t>
            </a:r>
            <a:endParaRPr lang="zh-CN" altLang="en-US" sz="2800" dirty="0"/>
          </a:p>
        </p:txBody>
      </p:sp>
      <p:sp>
        <p:nvSpPr>
          <p:cNvPr id="51" name="标题 1">
            <a:extLst>
              <a:ext uri="{FF2B5EF4-FFF2-40B4-BE49-F238E27FC236}">
                <a16:creationId xmlns="" xmlns:a16="http://schemas.microsoft.com/office/drawing/2014/main" id="{41511703-E394-414D-B03E-238AD012348E}"/>
              </a:ext>
            </a:extLst>
          </p:cNvPr>
          <p:cNvSpPr txBox="1">
            <a:spLocks/>
          </p:cNvSpPr>
          <p:nvPr/>
        </p:nvSpPr>
        <p:spPr>
          <a:xfrm>
            <a:off x="714743" y="16832"/>
            <a:ext cx="40382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三、程序设计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7904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0422E05D-A14C-4FFE-9958-447D17B60DC4}"/>
              </a:ext>
            </a:extLst>
          </p:cNvPr>
          <p:cNvSpPr/>
          <p:nvPr/>
        </p:nvSpPr>
        <p:spPr>
          <a:xfrm>
            <a:off x="880199" y="1680922"/>
            <a:ext cx="8263801" cy="2455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完成小车硬件设计与组装</a:t>
            </a:r>
            <a:endParaRPr lang="en-US" altLang="zh-CN" sz="36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完成元器件测试（分步测试）</a:t>
            </a:r>
            <a:endParaRPr lang="en-US" altLang="zh-CN" sz="36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完成整体调试，验收（每组</a:t>
            </a:r>
            <a:r>
              <a:rPr lang="en-US" altLang="zh-CN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次机会）</a:t>
            </a:r>
            <a:endParaRPr lang="en-US" altLang="zh-CN" sz="36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标题 1">
            <a:extLst>
              <a:ext uri="{FF2B5EF4-FFF2-40B4-BE49-F238E27FC236}">
                <a16:creationId xmlns="" xmlns:a16="http://schemas.microsoft.com/office/drawing/2014/main" id="{41511703-E394-414D-B03E-238AD012348E}"/>
              </a:ext>
            </a:extLst>
          </p:cNvPr>
          <p:cNvSpPr txBox="1">
            <a:spLocks/>
          </p:cNvSpPr>
          <p:nvPr/>
        </p:nvSpPr>
        <p:spPr>
          <a:xfrm>
            <a:off x="714743" y="16832"/>
            <a:ext cx="48282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四</a:t>
            </a:r>
            <a:r>
              <a:rPr lang="zh-CN" altLang="en-US" dirty="0" smtClean="0"/>
              <a:t>、进度观测点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620646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0422E05D-A14C-4FFE-9958-447D17B60DC4}"/>
              </a:ext>
            </a:extLst>
          </p:cNvPr>
          <p:cNvSpPr/>
          <p:nvPr/>
        </p:nvSpPr>
        <p:spPr>
          <a:xfrm>
            <a:off x="614006" y="1565915"/>
            <a:ext cx="8277938" cy="397031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人分工协作，共同完成。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）光电检测电路焊接可以用通用板（洞洞板），也</a:t>
            </a:r>
            <a:r>
              <a:rPr lang="zh-CN" altLang="en-US" sz="2800" dirty="0" smtClean="0"/>
              <a:t>可以用</a:t>
            </a:r>
            <a:r>
              <a:rPr lang="en-US" altLang="zh-CN" sz="2800" dirty="0" smtClean="0"/>
              <a:t>PCB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en-US" sz="2800" dirty="0"/>
              <a:t>）焊接光电</a:t>
            </a:r>
            <a:r>
              <a:rPr lang="zh-CN" altLang="en-US" sz="2800" dirty="0" smtClean="0"/>
              <a:t>对管时，要考虑其与地面的距离；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）在桌面上调试，应使轮子悬空，以免摔落；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）实地测试或验收时，最好使用充电宝供电；</a:t>
            </a:r>
            <a:endParaRPr lang="zh-CN" altLang="en-US" sz="2800" dirty="0"/>
          </a:p>
        </p:txBody>
      </p:sp>
      <p:sp>
        <p:nvSpPr>
          <p:cNvPr id="51" name="标题 1">
            <a:extLst>
              <a:ext uri="{FF2B5EF4-FFF2-40B4-BE49-F238E27FC236}">
                <a16:creationId xmlns="" xmlns:a16="http://schemas.microsoft.com/office/drawing/2014/main" id="{41511703-E394-414D-B03E-238AD012348E}"/>
              </a:ext>
            </a:extLst>
          </p:cNvPr>
          <p:cNvSpPr txBox="1">
            <a:spLocks/>
          </p:cNvSpPr>
          <p:nvPr/>
        </p:nvSpPr>
        <p:spPr>
          <a:xfrm>
            <a:off x="714743" y="16832"/>
            <a:ext cx="40382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四、注意事项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2456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659</TotalTime>
  <Words>591</Words>
  <Application>Microsoft Office PowerPoint</Application>
  <PresentationFormat>全屏显示(4:3)</PresentationFormat>
  <Paragraphs>77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黑体</vt:lpstr>
      <vt:lpstr>华文楷体</vt:lpstr>
      <vt:lpstr>宋体</vt:lpstr>
      <vt:lpstr>微软雅黑</vt:lpstr>
      <vt:lpstr>Arial</vt:lpstr>
      <vt:lpstr>Consolas</vt:lpstr>
      <vt:lpstr>Garamond</vt:lpstr>
      <vt:lpstr>Times New Roman</vt:lpstr>
      <vt:lpstr>Verdana</vt:lpstr>
      <vt:lpstr>Wingdings</vt:lpstr>
      <vt:lpstr>Office 主题</vt:lpstr>
      <vt:lpstr>Edge</vt:lpstr>
      <vt:lpstr>光电循迹小车设计与制作  （课程大作业50%）</vt:lpstr>
      <vt:lpstr>设计任务</vt:lpstr>
      <vt:lpstr>课程评价</vt:lpstr>
      <vt:lpstr>PowerPoint 演示文稿</vt:lpstr>
      <vt:lpstr>一、机械设计</vt:lpstr>
      <vt:lpstr>智能车模型</vt:lpstr>
      <vt:lpstr>一、机械设计</vt:lpstr>
      <vt:lpstr>PowerPoint 演示文稿</vt:lpstr>
      <vt:lpstr>PowerPoint 演示文稿</vt:lpstr>
      <vt:lpstr>2路直流电机驱动模块 正反转 PWM调速  双H桥</vt:lpstr>
      <vt:lpstr>电机驱动--L298</vt:lpstr>
      <vt:lpstr>PowerPoint 演示文稿</vt:lpstr>
      <vt:lpstr>PowerPoint 演示文稿</vt:lpstr>
      <vt:lpstr>红外发射、接收管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体验用户02</dc:creator>
  <cp:lastModifiedBy>Administrator</cp:lastModifiedBy>
  <cp:revision>69</cp:revision>
  <dcterms:created xsi:type="dcterms:W3CDTF">2018-12-29T03:37:37Z</dcterms:created>
  <dcterms:modified xsi:type="dcterms:W3CDTF">2024-09-03T08:47:13Z</dcterms:modified>
</cp:coreProperties>
</file>